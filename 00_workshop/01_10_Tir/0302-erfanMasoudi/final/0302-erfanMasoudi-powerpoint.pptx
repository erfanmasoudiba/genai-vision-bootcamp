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2" r:id="rId5"/>
    <p:sldId id="261" r:id="rId6"/>
    <p:sldId id="263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105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C887C-DBA4-4989-96F9-B13FB35ADB3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5AEC3-B986-445C-B427-2A120C257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4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AF14-255E-65D9-7966-E49348AF3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3983D-ECCA-505F-7E1F-B08D1BA72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F5E9D-5857-CD77-2C7D-31AA1232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657F-91FE-4BFE-A787-B4F6EA92FAD1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197B8-7512-D7C8-F38C-B95C468B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102A-9805-4229-79EE-16D986B2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1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BA78-E731-3AA6-396A-1D655360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ED7E-A3FB-719F-1F2E-F3EA62C89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4430C-0DA2-8CF0-93DF-A6C2AB4C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0053-5FB3-4661-AD95-34CEA507A2A4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E1B5B-AC11-9560-394A-0B53B5A3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DB1B2-8106-C3D0-C3F6-D7010208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44FD-7DC9-756B-8C27-8192A37F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9FEF3-539E-313C-FFC8-EC547E1CB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CE4A2-1ABD-6A49-5D33-D151FF62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F4F8-BD62-4B69-B458-B94AE210CEBA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C9171-95D1-B1A2-3171-84D0546A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BE92-40CE-12B9-042A-BE0C89AF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7761-96E6-9D6E-A06F-8B1A3C66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74A52-EB82-BEDA-B0A2-1B0568F77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15E67-85A8-21FB-687A-4FBA7F0EF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4BD29-16E5-F7A7-83D5-F49F393F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0D516-3462-422B-B200-7FF17050CFBE}" type="datetime1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E9E2-4CF9-15F4-C53C-BF9CE987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C7B34-83E9-2418-26A8-A38FEF71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8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D350-3221-CF67-ACE7-D6878E0C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8BC0F-1D0F-BA61-68C1-3FF4C0712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9590E-E6C2-2FAD-8B70-C9CCEB36F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EA447-1D79-B846-2AAB-7F5D84B60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31B70-DA7A-31D9-1FD9-80CBBE61D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83671-C927-6DE7-3BA7-43AB5DD7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19E7-65BA-4B1D-8635-C79202BF1AA9}" type="datetime1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71EDE-DA62-A9F9-2CB4-728522F3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29B35-11B8-3E97-3BA3-42AD64DA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7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AFBC-EFB0-68A6-E42A-28244FAF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56A1A-39B8-E38A-C3DF-DC856165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14D-BBFD-4563-BB0B-7C821C724E35}" type="datetime1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CE020-C9A5-658B-0801-4DA57255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8C92F-E584-6CFE-D658-EABEDB3D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0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55FE6-666F-887E-25E5-AE8E2EA5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AFE9-2F0B-4CB7-9967-44130FF9C14E}" type="datetime1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895BD-AE91-2251-AB89-1F80A6F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2133B-B1AC-E1B9-4B0A-19A4627D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3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50F-BBE5-8F0D-D16B-AE0DC0DBD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01D4-89F5-26FC-354A-5C6CB501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25732-4831-9FA6-6384-691B30FD5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FA9A3-42A5-631C-8CA8-BA2FE52D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40C5-2FC1-4D61-8C06-2F6D72E9E000}" type="datetime1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05356-9B2E-77F2-204F-D0A7B407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DF1FB-3EA7-52D8-0CCF-B3E35CBD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8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455F-8DE3-404F-C1C4-1071E42B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F8361-F22E-8A64-CD56-32A640F8F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A112E-6794-07ED-3322-930F95CEE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F9544-3D87-2196-BD2E-7BE40595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9C58-0E5D-402B-A32C-044853C2FBD1}" type="datetime1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291B4-7100-EE3A-E8C1-452E72C6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8ACDB-A5AD-C5F6-11B8-CF93197B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2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A128-61B3-31FA-2401-FBB86EC8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25F56-DBF3-F4CB-E64C-E726EF40C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C7D0D-61F6-BFE4-5F45-8CBA0EDA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C2EA-DA5B-4331-BF94-ACC0175F9279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511A-C169-D662-B91E-F6286C2F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51CD-E9A8-6E40-DC8E-D37A6BEA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7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26741-6031-7EA2-F29E-509699C49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C403A-8E60-F985-148C-9EF0BB16F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FF2EA-FBA5-E61D-1604-A285B7CA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D1327-4046-4047-BF3B-F3678F823AD1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54E6-4C10-4957-4F27-40E431FF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8707B-0321-C619-ADA0-063764B7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7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634523-7E03-ABFF-30FE-70D5FEE7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BDBBD-E279-A50E-B806-D626829BC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78A7F-02F1-A593-22CC-FE0270751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9F1A1-E07A-423F-AE74-8D2C37785121}" type="datetime1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9EF3-D4D1-4322-C638-88690D8EB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EB234-DAC9-96D4-3471-16189834C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71E7D-3738-4519-A018-49EDD94E0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63BE-D9E8-A978-B640-894F743F7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کاربرد یادگیری عمیق</a:t>
            </a:r>
            <a:br>
              <a:rPr lang="fa-IR" dirty="0">
                <a:cs typeface="B Nazanin" panose="00000400000000000000" pitchFamily="2" charset="-78"/>
              </a:rPr>
            </a:br>
            <a:r>
              <a:rPr lang="fa-IR" dirty="0">
                <a:cs typeface="B Nazanin" panose="00000400000000000000" pitchFamily="2" charset="-78"/>
              </a:rPr>
              <a:t> در تشخیص زودهنگام سرطان کبد 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1C802-1F3E-D76A-57F6-EE0175019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گردآورنده: سید عرفان مسعودی</a:t>
            </a:r>
          </a:p>
          <a:p>
            <a:r>
              <a:rPr lang="fa-IR" dirty="0">
                <a:cs typeface="B Nazanin" panose="00000400000000000000" pitchFamily="2" charset="-78"/>
              </a:rPr>
              <a:t>استاد: دکتر کاشی</a:t>
            </a:r>
          </a:p>
          <a:p>
            <a:r>
              <a:rPr lang="fa-IR" dirty="0">
                <a:cs typeface="B Nazanin" panose="00000400000000000000" pitchFamily="2" charset="-78"/>
              </a:rPr>
              <a:t>بهار ۱۴۰۴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D9534-11CF-115A-64D4-B71992A4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7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9735-2625-0AA7-F2CD-BFCAD94B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B Nazanin" panose="00000400000000000000" pitchFamily="2" charset="-78"/>
              </a:rPr>
              <a:t>اهمیت موضوع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4F7F5-858B-2191-0A82-11C19F481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648861" cy="4351338"/>
          </a:xfrm>
        </p:spPr>
        <p:txBody>
          <a:bodyPr>
            <a:normAutofit/>
          </a:bodyPr>
          <a:lstStyle/>
          <a:p>
            <a:pPr marL="0" indent="0" algn="just" rtl="1">
              <a:buNone/>
            </a:pPr>
            <a:r>
              <a:rPr lang="fa-IR" sz="2400" dirty="0">
                <a:cs typeface="B Nazanin" panose="00000400000000000000" pitchFamily="2" charset="-78"/>
              </a:rPr>
              <a:t>چرا تشخیص زودهنگام سرطان کبد مهم است؟</a:t>
            </a:r>
          </a:p>
          <a:p>
            <a:pPr marL="0" indent="0" algn="just" rtl="1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just" rtl="1">
              <a:buNone/>
            </a:pPr>
            <a:r>
              <a:rPr lang="fa-IR" sz="2400" dirty="0">
                <a:cs typeface="B Nazanin" panose="00000400000000000000" pitchFamily="2" charset="-78"/>
              </a:rPr>
              <a:t>✅ </a:t>
            </a:r>
            <a:r>
              <a:rPr lang="en-US" sz="2400" dirty="0">
                <a:cs typeface="B Nazanin" panose="00000400000000000000" pitchFamily="2" charset="-78"/>
              </a:rPr>
              <a:t>HCC </a:t>
            </a:r>
            <a:r>
              <a:rPr lang="fa-IR" sz="2400" dirty="0">
                <a:cs typeface="B Nazanin" panose="00000400000000000000" pitchFamily="2" charset="-78"/>
              </a:rPr>
              <a:t> =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ششمین سرطان شایع دنیا، سومین عامل مرگ سرطان  </a:t>
            </a:r>
          </a:p>
          <a:p>
            <a:pPr marL="0" indent="0" algn="just" rtl="1">
              <a:buNone/>
            </a:pPr>
            <a:r>
              <a:rPr lang="fa-IR" sz="2400" dirty="0">
                <a:cs typeface="B Nazanin" panose="00000400000000000000" pitchFamily="2" charset="-78"/>
              </a:rPr>
              <a:t>✅ تشخیص زودهنگام = نجات زندگی بیمار  </a:t>
            </a:r>
          </a:p>
          <a:p>
            <a:pPr marL="0" indent="0" algn="just" rtl="1">
              <a:buNone/>
            </a:pPr>
            <a:r>
              <a:rPr lang="fa-IR" sz="2400" dirty="0">
                <a:cs typeface="B Nazanin" panose="00000400000000000000" pitchFamily="2" charset="-78"/>
              </a:rPr>
              <a:t>✅ چالش: تومورها در مراحل اولیه کوچک و پنهان هستند  </a:t>
            </a:r>
          </a:p>
          <a:p>
            <a:pPr marL="0" indent="0" algn="just" rtl="1">
              <a:buNone/>
            </a:pPr>
            <a:r>
              <a:rPr lang="fa-IR" sz="2400" dirty="0">
                <a:cs typeface="B Nazanin" panose="00000400000000000000" pitchFamily="2" charset="-78"/>
              </a:rPr>
              <a:t>✅ </a:t>
            </a:r>
            <a:r>
              <a:rPr lang="en-US" sz="2400" dirty="0">
                <a:cs typeface="B Nazanin" panose="00000400000000000000" pitchFamily="2" charset="-78"/>
              </a:rPr>
              <a:t>MRI </a:t>
            </a:r>
            <a:r>
              <a:rPr lang="fa-IR" sz="2400" dirty="0">
                <a:cs typeface="B Nazanin" panose="00000400000000000000" pitchFamily="2" charset="-78"/>
              </a:rPr>
              <a:t> ابزار مهم، ولی تحلیل آن دشوار است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11383-3851-F385-F54D-E8D5A40E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2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55C84D0-F535-AF35-962B-EFADDCCF2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792" y="365125"/>
            <a:ext cx="4734043" cy="30266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93E452-1730-A380-B22A-E44D258F9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93" y="3631890"/>
            <a:ext cx="4734043" cy="302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4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BFA5-4F82-FC1D-B18D-A9F98119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B Nazanin" panose="00000400000000000000" pitchFamily="2" charset="-78"/>
              </a:rPr>
              <a:t>چرا هوش مصنوعی؟ چرا یادگیری عمیق؟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C758F-3196-7186-683B-B305076E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مشکلات روش‌های سنتی: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🛑 </a:t>
            </a:r>
            <a:r>
              <a:rPr lang="fa-IR" dirty="0">
                <a:cs typeface="B Nazanin" panose="00000400000000000000" pitchFamily="2" charset="-78"/>
              </a:rPr>
              <a:t>وقت‌گیر بودن تفسیر </a:t>
            </a:r>
            <a:r>
              <a:rPr lang="en-US" dirty="0">
                <a:cs typeface="B Nazanin" panose="00000400000000000000" pitchFamily="2" charset="-78"/>
              </a:rPr>
              <a:t>MRI  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🛑 </a:t>
            </a:r>
            <a:r>
              <a:rPr lang="fa-IR" dirty="0">
                <a:cs typeface="B Nazanin" panose="00000400000000000000" pitchFamily="2" charset="-78"/>
              </a:rPr>
              <a:t>وابسته به تجربه پزشک  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🛑 </a:t>
            </a:r>
            <a:r>
              <a:rPr lang="fa-IR" dirty="0">
                <a:cs typeface="B Nazanin" panose="00000400000000000000" pitchFamily="2" charset="-78"/>
              </a:rPr>
              <a:t>احتمال خطا یا تشخیص دیرهنگام</a:t>
            </a:r>
          </a:p>
          <a:p>
            <a:pPr marL="0" indent="0" algn="just" rtl="1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مزایای یادگیری عمیق: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✅ </a:t>
            </a:r>
            <a:r>
              <a:rPr lang="fa-IR" dirty="0">
                <a:cs typeface="B Nazanin" panose="00000400000000000000" pitchFamily="2" charset="-78"/>
              </a:rPr>
              <a:t>پردازش سریع حجم زیاد داده  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✅ </a:t>
            </a:r>
            <a:r>
              <a:rPr lang="fa-IR" dirty="0">
                <a:cs typeface="B Nazanin" panose="00000400000000000000" pitchFamily="2" charset="-78"/>
              </a:rPr>
              <a:t>یادگیری الگوهای پنهان  </a:t>
            </a: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✅ </a:t>
            </a:r>
            <a:r>
              <a:rPr lang="fa-IR" dirty="0">
                <a:cs typeface="B Nazanin" panose="00000400000000000000" pitchFamily="2" charset="-78"/>
              </a:rPr>
              <a:t>افزایش دقت + کاهش خطای انسانی</a:t>
            </a:r>
          </a:p>
          <a:p>
            <a:pPr marL="0" indent="0" algn="just" rtl="1">
              <a:buNone/>
            </a:pP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CD2E4-EE1D-63E6-21B7-1954935F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9F3D4-0737-DD38-2167-B6B5F271E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635" y="1825625"/>
            <a:ext cx="3704492" cy="1345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351774-6539-B096-DC9E-44EA8F3C6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31" y="3649955"/>
            <a:ext cx="3104050" cy="1912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0096F-F949-A0AF-7A01-39FDD2B45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91" y="3525855"/>
            <a:ext cx="3104051" cy="20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6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B935-97E1-7679-3BFE-E77510C5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286154-30B7-22C7-1603-3F4995B8B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77" y="1825625"/>
            <a:ext cx="10054645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D340B-9F25-A8C7-4ED8-22B60D00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7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B1FE-5C61-DD65-0EC7-9D704994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rtl="1"/>
            <a:r>
              <a:rPr lang="fa-IR" dirty="0">
                <a:cs typeface="B Nazanin" panose="00000400000000000000" pitchFamily="2" charset="-78"/>
              </a:rPr>
              <a:t>معرفی مقاله موردی (</a:t>
            </a:r>
            <a:r>
              <a:rPr lang="en-US" dirty="0">
                <a:cs typeface="B Nazanin" panose="00000400000000000000" pitchFamily="2" charset="-78"/>
              </a:rPr>
              <a:t>Case Study</a:t>
            </a:r>
            <a:r>
              <a:rPr lang="fa-IR" dirty="0">
                <a:cs typeface="B Nazanin" panose="00000400000000000000" pitchFamily="2" charset="-78"/>
              </a:rPr>
              <a:t>)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3836-ADCF-EE17-529E-84D43ACBE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مقاله: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A deep-learning approach for segmentation of liver tumors in MRI using </a:t>
            </a:r>
            <a:r>
              <a:rPr lang="en-US" dirty="0" err="1">
                <a:cs typeface="B Nazanin" panose="00000400000000000000" pitchFamily="2" charset="-78"/>
              </a:rPr>
              <a:t>UNet</a:t>
            </a:r>
            <a:r>
              <a:rPr lang="en-US" dirty="0">
                <a:cs typeface="B Nazanin" panose="00000400000000000000" pitchFamily="2" charset="-78"/>
              </a:rPr>
              <a:t>++</a:t>
            </a:r>
          </a:p>
          <a:p>
            <a:pPr marL="0" indent="0" algn="just" rtl="1">
              <a:buNone/>
            </a:pPr>
            <a:endParaRPr lang="en-US" dirty="0">
              <a:cs typeface="B Nazanin" panose="00000400000000000000" pitchFamily="2" charset="-78"/>
            </a:endParaRP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◉ </a:t>
            </a:r>
            <a:r>
              <a:rPr lang="fa-IR" dirty="0">
                <a:cs typeface="B Nazanin" panose="00000400000000000000" pitchFamily="2" charset="-78"/>
              </a:rPr>
              <a:t>هدف: طراحی مدل </a:t>
            </a:r>
            <a:r>
              <a:rPr lang="en-US" dirty="0" err="1">
                <a:cs typeface="B Nazanin" panose="00000400000000000000" pitchFamily="2" charset="-78"/>
              </a:rPr>
              <a:t>UNet</a:t>
            </a:r>
            <a:r>
              <a:rPr lang="en-US" dirty="0">
                <a:cs typeface="B Nazanin" panose="00000400000000000000" pitchFamily="2" charset="-78"/>
              </a:rPr>
              <a:t>++</a:t>
            </a:r>
            <a:r>
              <a:rPr lang="fa-IR" dirty="0">
                <a:cs typeface="B Nazanin" panose="00000400000000000000" pitchFamily="2" charset="-78"/>
              </a:rPr>
              <a:t> برای:</a:t>
            </a:r>
          </a:p>
          <a:p>
            <a:pPr marL="0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   ✔️ سگمنتیشن خودکار کبد</a:t>
            </a:r>
          </a:p>
          <a:p>
            <a:pPr marL="0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   ✔️ تشخیص تومورهای داخل کبد در </a:t>
            </a:r>
            <a:r>
              <a:rPr lang="en-US" dirty="0">
                <a:cs typeface="B Nazanin" panose="00000400000000000000" pitchFamily="2" charset="-78"/>
              </a:rPr>
              <a:t>MRI</a:t>
            </a:r>
          </a:p>
          <a:p>
            <a:pPr marL="0" indent="0" algn="just" rtl="1">
              <a:buNone/>
            </a:pPr>
            <a:endParaRPr lang="en-US" dirty="0">
              <a:cs typeface="B Nazanin" panose="00000400000000000000" pitchFamily="2" charset="-78"/>
            </a:endParaRPr>
          </a:p>
          <a:p>
            <a:pPr marL="0" indent="0" algn="just" rtl="1">
              <a:buNone/>
            </a:pPr>
            <a:r>
              <a:rPr lang="en-US" dirty="0">
                <a:cs typeface="B Nazanin" panose="00000400000000000000" pitchFamily="2" charset="-78"/>
              </a:rPr>
              <a:t>◉ </a:t>
            </a:r>
            <a:r>
              <a:rPr lang="fa-IR" dirty="0">
                <a:cs typeface="B Nazanin" panose="00000400000000000000" pitchFamily="2" charset="-78"/>
              </a:rPr>
              <a:t>کاربرد: کمک به تشخیص سریع و دقیق‌تر سرطان کبد</a:t>
            </a:r>
          </a:p>
          <a:p>
            <a:pPr marL="0" indent="0" algn="just" rtl="1">
              <a:buNone/>
            </a:pP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A9F9C-C731-F71F-AC16-A23C4B79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7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19DF-59CB-EDDA-705C-D9C648DB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BFF9-AF9D-6EF3-929D-98967D220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1">
              <a:buNone/>
            </a:pPr>
            <a:r>
              <a:rPr lang="fa-IR" dirty="0"/>
              <a:t>◉ تعداد کل بیماران: 105 نفر با تشخیص </a:t>
            </a:r>
            <a:r>
              <a:rPr lang="en-US" dirty="0"/>
              <a:t>HCC</a:t>
            </a:r>
          </a:p>
          <a:p>
            <a:pPr marL="0" indent="0" algn="just" rtl="1">
              <a:buNone/>
            </a:pPr>
            <a:r>
              <a:rPr lang="en-US" dirty="0"/>
              <a:t>◉ </a:t>
            </a:r>
            <a:r>
              <a:rPr lang="fa-IR" dirty="0"/>
              <a:t>دوره زمانی </a:t>
            </a:r>
            <a:r>
              <a:rPr lang="en-US" dirty="0"/>
              <a:t>MRI: </a:t>
            </a:r>
            <a:r>
              <a:rPr lang="fa-IR" dirty="0"/>
              <a:t>بین سال‌های 2015 تا 2020</a:t>
            </a:r>
          </a:p>
          <a:p>
            <a:pPr marL="0" indent="0" algn="just" rtl="1">
              <a:buNone/>
            </a:pPr>
            <a:r>
              <a:rPr lang="fa-IR" dirty="0"/>
              <a:t>◉ تقسیم‌بندی داده‌ها:</a:t>
            </a:r>
          </a:p>
          <a:p>
            <a:pPr marL="0" indent="0" algn="just" rtl="1">
              <a:buNone/>
            </a:pPr>
            <a:r>
              <a:rPr lang="fa-IR" dirty="0"/>
              <a:t>   - آموزش (</a:t>
            </a:r>
            <a:r>
              <a:rPr lang="en-US" dirty="0"/>
              <a:t>Training): 83 </a:t>
            </a:r>
            <a:r>
              <a:rPr lang="fa-IR" dirty="0"/>
              <a:t>نفر</a:t>
            </a:r>
          </a:p>
          <a:p>
            <a:pPr marL="0" indent="0" algn="just" rtl="1">
              <a:buNone/>
            </a:pPr>
            <a:r>
              <a:rPr lang="fa-IR" dirty="0"/>
              <a:t>   - اعتبارسنجی (</a:t>
            </a:r>
            <a:r>
              <a:rPr lang="en-US" dirty="0"/>
              <a:t>Validation): 11 </a:t>
            </a:r>
            <a:r>
              <a:rPr lang="fa-IR" dirty="0"/>
              <a:t>نفر</a:t>
            </a:r>
          </a:p>
          <a:p>
            <a:pPr marL="0" indent="0" algn="just" rtl="1">
              <a:buNone/>
            </a:pPr>
            <a:r>
              <a:rPr lang="fa-IR" dirty="0"/>
              <a:t>   - تست داخلی (</a:t>
            </a:r>
            <a:r>
              <a:rPr lang="en-US" dirty="0"/>
              <a:t>Internal Test): 11 </a:t>
            </a:r>
            <a:r>
              <a:rPr lang="fa-IR" dirty="0"/>
              <a:t>نفر</a:t>
            </a:r>
          </a:p>
          <a:p>
            <a:pPr marL="0" indent="0" algn="just" rtl="1">
              <a:buNone/>
            </a:pPr>
            <a:r>
              <a:rPr lang="fa-IR" dirty="0"/>
              <a:t>   - تست خارجی (</a:t>
            </a:r>
            <a:r>
              <a:rPr lang="en-US" dirty="0"/>
              <a:t>External Test): 9 </a:t>
            </a:r>
            <a:r>
              <a:rPr lang="fa-IR" dirty="0"/>
              <a:t>مورد (از </a:t>
            </a:r>
            <a:r>
              <a:rPr lang="en-US" dirty="0"/>
              <a:t>TCIA)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4F756-C8A3-BEF9-81F5-8890681F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2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902D-4315-0AE3-FFBF-89342CD7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FA2A-2D75-6D25-601F-C4E8C5404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Wang, J., Peng, Y., Jing, S. </a:t>
            </a:r>
            <a:r>
              <a:rPr lang="en-US" i="1" dirty="0"/>
              <a:t>et al.</a:t>
            </a:r>
            <a:r>
              <a:rPr lang="en-US" dirty="0"/>
              <a:t> A deep-learning approach for segmentation of liver tumors in magnetic resonance imaging using </a:t>
            </a:r>
            <a:r>
              <a:rPr lang="en-US" dirty="0" err="1"/>
              <a:t>UNet</a:t>
            </a:r>
            <a:r>
              <a:rPr lang="en-US" dirty="0"/>
              <a:t>++. </a:t>
            </a:r>
            <a:r>
              <a:rPr lang="en-US" i="1" dirty="0"/>
              <a:t>BMC Cancer</a:t>
            </a:r>
            <a:r>
              <a:rPr lang="en-US" dirty="0"/>
              <a:t> </a:t>
            </a:r>
            <a:r>
              <a:rPr lang="en-US" b="1" dirty="0"/>
              <a:t>23</a:t>
            </a:r>
            <a:r>
              <a:rPr lang="en-US" dirty="0"/>
              <a:t>, 1060 (2023).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55F43-A5A7-49F5-A6A2-CE15475A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1E7D-3738-4519-A018-49EDD94E09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9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286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 Nazanin</vt:lpstr>
      <vt:lpstr>Calibri</vt:lpstr>
      <vt:lpstr>Calibri Light</vt:lpstr>
      <vt:lpstr>Office Theme</vt:lpstr>
      <vt:lpstr>کاربرد یادگیری عمیق  در تشخیص زودهنگام سرطان کبد </vt:lpstr>
      <vt:lpstr>اهمیت موضوع</vt:lpstr>
      <vt:lpstr>چرا هوش مصنوعی؟ چرا یادگیری عمیق؟</vt:lpstr>
      <vt:lpstr>PowerPoint Presentation</vt:lpstr>
      <vt:lpstr>معرفی مقاله موردی (Case Study)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erfan msd</dc:creator>
  <cp:lastModifiedBy>erfan msd</cp:lastModifiedBy>
  <cp:revision>2</cp:revision>
  <dcterms:created xsi:type="dcterms:W3CDTF">2025-05-14T15:34:51Z</dcterms:created>
  <dcterms:modified xsi:type="dcterms:W3CDTF">2025-05-15T14:35:56Z</dcterms:modified>
</cp:coreProperties>
</file>